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80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76" r:id="rId12"/>
    <p:sldId id="277" r:id="rId13"/>
    <p:sldId id="283" r:id="rId14"/>
    <p:sldId id="269" r:id="rId15"/>
    <p:sldId id="281" r:id="rId16"/>
    <p:sldId id="271" r:id="rId17"/>
    <p:sldId id="28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Тема: </a:t>
            </a:r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Автоматизированная информационная система для обслуживания клиентов строительной компании на базе платформы .NET.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82858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Конкин Никита Алексеевич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                      Студент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 Фомичева Ольга Владиславовна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Актуальность 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87C3C-F70F-463A-9ECB-069265234AF1}"/>
              </a:ext>
            </a:extLst>
          </p:cNvPr>
          <p:cNvSpPr txBox="1"/>
          <p:nvPr/>
        </p:nvSpPr>
        <p:spPr>
          <a:xfrm>
            <a:off x="212436" y="1611086"/>
            <a:ext cx="11554689" cy="456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40000" algn="just" defTabSz="914400">
              <a:lnSpc>
                <a:spcPct val="130000"/>
              </a:lnSpc>
            </a:pP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Современные строительные компании предлагают исключительно широкий спектр услуг и объектов недвижимости, включая как типовые проекты, так и индивидуальные архитектурные решения, что позволяет клиентам находить варианты, точно соответствующие их потребностям и бюджету. Однако с увеличением количества проектов, клиентов и объемов документации ручное управление бизнес-процессами становится неэффективным. В связи с этим возникает острая необходимость во внедрении специализированных автоматизированных информационных систем, которые помогают компаниям эффективнее управлять клиентской базой и документооборотом. Такие системы автоматизируют ключевые процессы: от ведения учета клиентов и оформления контрактов до формирования отчетности в форматах MS Word и Excel, что значительно снижает время сотрудников на выполнение рутинных задач и минимизирует вероятность человеческих ошибок.</a:t>
            </a:r>
          </a:p>
          <a:p>
            <a:pPr indent="540000" algn="just" defTabSz="914400">
              <a:lnSpc>
                <a:spcPct val="130000"/>
              </a:lnSpc>
            </a:pP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Разработка собственной автоматизированной системы на платформе .NET является особенно актуальной для малых и средних бизнесов в строительной отрасли. Для компаний такого масштаба критически важно снижение операционных издержек и повышение качества обслуживания без необходимости внедрения дорогостоящих и избыточных облачных CRM-платформ (таких как «Битрикс24» или «</a:t>
            </a:r>
            <a:r>
              <a:rPr lang="ru-RU" sz="1500" dirty="0" err="1">
                <a:latin typeface="Times New Roman" pitchFamily="18" charset="0"/>
                <a:cs typeface="Times New Roman" pitchFamily="18" charset="0"/>
              </a:rPr>
              <a:t>amoCRM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»), которые часто перегружены ненужным функционалом и требуют значительных регулярных затрат на лицензии. Адаптированное решение обеспечивает малому и среднему бизнесу удобный интерфейс, централизованное и надежное хранение конфиденциальной информации, а также формализацию порядка работы с заявками, способствуя устойчивому развитию и повышению конкурентоспособности на рынке.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B892AF-0D8D-B963-9F83-4652AA65E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545" y="1307591"/>
            <a:ext cx="11951855" cy="5550409"/>
          </a:xfrm>
        </p:spPr>
        <p:txBody>
          <a:bodyPr>
            <a:normAutofit fontScale="70000" lnSpcReduction="20000"/>
          </a:bodyPr>
          <a:lstStyle/>
          <a:p>
            <a:pPr marL="0" indent="54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выпускной квалификационной работы заключается в разработке информационной системы по ведению базы данных «Аптеки 36,6». База данных должна обладать следующими особенностями: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хранить информацию о пользователях системы, строительных объектах, контрактах и клиентах;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продуманный интерфейс в соответствии с поставленной задачей;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форму авторизации с разграничением прав доступа;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предусматривать работу следующих групп пользователей: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Системный администратор: настройка подключения базы данных, импорт и экспорт данных в формате .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резервное копирование и восстановление БД, настройка времени бездействия системы;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Администратор: добавление, редактирование и удаление пользователей АИС, управление данными о строительных объектах;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Менеджер: просмотр строительных объектов, управление информацией о клиентах, ведение учета контрактов, формирование документов в MS Word;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отдела продаж: просмотр списков клиентов и сотрудников, управление статусами клиентов, формирование отчетов в MS Excel;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возможность ведения и редактирования базы данных (добавление, удаление, редактирование);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функции поиска, сортировки и фильтрации данных при отображении списка клиентов;</a:t>
            </a:r>
          </a:p>
          <a:p>
            <a:pPr marL="571500" indent="-342900" algn="just">
              <a:lnSpc>
                <a:spcPct val="120000"/>
              </a:lnSpc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возможность восстановления БД и резервного копирования БД.</a:t>
            </a:r>
          </a:p>
          <a:p>
            <a:pPr marL="0" indent="54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С#. База данных составляется в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Обоснование выбора среды разработки и способа организации входных и выходных данных</a:t>
            </a:r>
          </a:p>
        </p:txBody>
      </p:sp>
      <p:sp>
        <p:nvSpPr>
          <p:cNvPr id="12300" name="AutoShape 1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302" name="AutoShape 14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D1815BA-4094-F851-97AC-00991E4FE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459" y="1710692"/>
            <a:ext cx="2039466" cy="203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382EA9-CB39-4FCF-5C06-422C6CB56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230" y="4365320"/>
            <a:ext cx="1873539" cy="193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softmap.ru/upload/iblock/e54/e54939d4e36e17534d4c8d1c8b05c2e1.png">
            <a:extLst>
              <a:ext uri="{FF2B5EF4-FFF2-40B4-BE49-F238E27FC236}">
                <a16:creationId xmlns:a16="http://schemas.microsoft.com/office/drawing/2014/main" id="{679DFC83-6321-B67E-A772-6F72640A2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4" y="1987324"/>
            <a:ext cx="1190369" cy="119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1200/1*sXIXxTtZPaylbQMgsbI4GA.png">
            <a:extLst>
              <a:ext uri="{FF2B5EF4-FFF2-40B4-BE49-F238E27FC236}">
                <a16:creationId xmlns:a16="http://schemas.microsoft.com/office/drawing/2014/main" id="{71DCCA4E-6D69-E5A9-0A1C-B2965D22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https://logo-download.com/wp-content/data/images/png/C++-logo.png">
            <a:extLst>
              <a:ext uri="{FF2B5EF4-FFF2-40B4-BE49-F238E27FC236}">
                <a16:creationId xmlns:a16="http://schemas.microsoft.com/office/drawing/2014/main" id="{F65214B0-01B0-CC05-1090-2A83325BE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 descr="https://logos-download.com/wp-content/uploads/2016/10/Python_logo_icon.png">
            <a:extLst>
              <a:ext uri="{FF2B5EF4-FFF2-40B4-BE49-F238E27FC236}">
                <a16:creationId xmlns:a16="http://schemas.microsoft.com/office/drawing/2014/main" id="{85380431-2421-A70A-38B1-2F6C0F620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40" y="4486297"/>
            <a:ext cx="1338566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https://miro.medium.com/max/1200/1*w0u2TZpEp3WfKMrlL5jTSw.png">
            <a:extLst>
              <a:ext uri="{FF2B5EF4-FFF2-40B4-BE49-F238E27FC236}">
                <a16:creationId xmlns:a16="http://schemas.microsoft.com/office/drawing/2014/main" id="{35EDE846-1707-F8FE-FC2D-69DDF3F30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0" descr="https://i0.wp.com/losst.ru/wp-content/uploads/2016/12/sqlite.jpg">
            <a:extLst>
              <a:ext uri="{FF2B5EF4-FFF2-40B4-BE49-F238E27FC236}">
                <a16:creationId xmlns:a16="http://schemas.microsoft.com/office/drawing/2014/main" id="{57F9FB14-FF6A-06B6-63D8-C229A4065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963" y="4705764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2" descr="https://24x7servermanagement.com/wp-content/uploads/2016/09/mysql-logo.jpg">
            <a:extLst>
              <a:ext uri="{FF2B5EF4-FFF2-40B4-BE49-F238E27FC236}">
                <a16:creationId xmlns:a16="http://schemas.microsoft.com/office/drawing/2014/main" id="{92028AFD-7762-A76C-2221-7834A7D94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70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</a:rPr>
              <a:t>ER</a:t>
            </a:r>
            <a:r>
              <a:rPr lang="ru-RU" sz="4000" dirty="0">
                <a:solidFill>
                  <a:schemeClr val="bg1"/>
                </a:solidFill>
              </a:rPr>
              <a:t>-диаграмма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FA766D-7544-B28A-5281-427CA1FC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996" y="1311564"/>
            <a:ext cx="7365205" cy="52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0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AF11D6-20E1-B20E-A31A-AF176CC20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16" y="1317891"/>
            <a:ext cx="3358183" cy="27526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F65411-860C-0896-3CA7-0F4245A62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151" y="4070576"/>
            <a:ext cx="2507312" cy="25868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FF593D-2410-D5EF-60F4-3D9FEE270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482" y="1317891"/>
            <a:ext cx="3013241" cy="30581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CC9E29-AF71-6064-DE32-50F6161D5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541" y="4202885"/>
            <a:ext cx="3895715" cy="248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57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9C9062-4984-9A94-0A79-9833398A5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675"/>
            <a:ext cx="3080400" cy="18584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E96890-EC13-CDA7-73F7-865D9BADF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1307222"/>
            <a:ext cx="2634030" cy="17576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11327B-C570-813C-A5F0-981B76350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07222"/>
            <a:ext cx="4747974" cy="254261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193E1B-01DA-5F40-6D96-62DD7AFB1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00" y="3600151"/>
            <a:ext cx="5008436" cy="304449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96A5C7C-4125-A3F4-A989-EF7D17E40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28867"/>
            <a:ext cx="4167000" cy="261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1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5E5D4C-17FE-885D-AA82-AD7B3A8B3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09675"/>
            <a:ext cx="5200073" cy="278143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3B8AEA-677A-31D4-4FD7-896EECC7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321" y="1341582"/>
            <a:ext cx="4665480" cy="3429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7A9EEE-20BF-F4FF-72D7-279F8270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735" y="3592276"/>
            <a:ext cx="4771973" cy="318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AF129C-5EB4-9DA9-2359-7D09B1872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564" y="1587262"/>
            <a:ext cx="1911926" cy="22480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273DE8-1C6D-74D9-DF6E-89542DCFF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836" y="2983260"/>
            <a:ext cx="3149599" cy="34238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02FD1E-8919-5264-93C4-E9B8D9AD6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13" y="1587262"/>
            <a:ext cx="6494678" cy="466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394866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C49258-24F9-1F22-A9FE-5AE7CA36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2" y="1819564"/>
            <a:ext cx="6430427" cy="36932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5F93AB-05A6-F0FC-47FD-959BC2E7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716" y="1256146"/>
            <a:ext cx="4117029" cy="26914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019700-D5D3-81F9-688F-CA31DC2DD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716" y="4016834"/>
            <a:ext cx="3394478" cy="113149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8D8120-9C77-FD41-39E2-5441E26FB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154" y="5148327"/>
            <a:ext cx="4639937" cy="156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640AD1-0837-E89F-7BD4-1C9379D84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02" y="1422400"/>
            <a:ext cx="1803827" cy="235527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D76A93-D513-4C9A-3C25-2E0C66FAC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228" y="1330037"/>
            <a:ext cx="5510879" cy="39346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9AFADD-8136-56B0-7BE2-0F4E79155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466" y="2475345"/>
            <a:ext cx="369481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02DF24-E5DC-6D15-7FD2-AAA0B95BC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9" y="1283854"/>
            <a:ext cx="4928056" cy="38798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240B3A-1F1D-DA01-3663-0EF461DC7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67" y="1283853"/>
            <a:ext cx="4781834" cy="345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CA1E97-0313-9811-FA29-52E09277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563"/>
            <a:ext cx="6096000" cy="307133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C5BA0B-4AA3-2C2D-9E3D-9AAE7BA99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38764"/>
            <a:ext cx="5945581" cy="316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19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47320" y="2276018"/>
            <a:ext cx="3642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персональных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60003" y="1491689"/>
            <a:ext cx="508730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Парольная защита на 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714242" y="1508814"/>
            <a:ext cx="1896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523490" y="5309884"/>
            <a:ext cx="3064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из базы данных осуществляется только после подтверждения 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9082939" y="6222484"/>
            <a:ext cx="776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Капча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A1D422-A3D4-E045-859C-2F1457DE0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54" y="4889891"/>
            <a:ext cx="3217036" cy="148478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3B713E-29F8-2F83-CEBB-654DDB2B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54" y="2931767"/>
            <a:ext cx="4028331" cy="132704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385B11-87EE-83CB-0336-0B13C7BF3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266" y="1995055"/>
            <a:ext cx="2920780" cy="233823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00AA736-2E4F-B577-6A69-2D8ACE9FF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657" y="1869267"/>
            <a:ext cx="2381269" cy="96989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4934646-0388-BAA2-289D-80AAC7B36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92" y="3903523"/>
            <a:ext cx="4549654" cy="206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5488" y="1391691"/>
            <a:ext cx="1139342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Цена разработки программного продукта: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23766</a:t>
            </a:r>
            <a:r>
              <a:rPr lang="ru-RU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рублей.</a:t>
            </a:r>
          </a:p>
          <a:p>
            <a:pPr indent="540000"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разработана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учебного процесса.</a:t>
            </a:r>
          </a:p>
          <a:p>
            <a:pPr indent="540000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Было принято решение продвигать продукт путем выпуска пробной версии продукта и размещение ее на специализированном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хостинге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Данный вариант позволит пользователям ознакомится с программным продуктом, оценить функционал, а размещение на специализированном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хостинге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привлечет большое количество клиентов.</a:t>
            </a:r>
          </a:p>
          <a:p>
            <a:pPr indent="540000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Планируется реализовать программный продукт для желающих по цене 350 рублей. Таким образом срок окупаемости программного продукта, составит 7 месяцев.</a:t>
            </a:r>
          </a:p>
          <a:p>
            <a:pPr indent="540000" algn="just">
              <a:lnSpc>
                <a:spcPct val="150000"/>
              </a:lnSpc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/>
          </a:p>
          <a:p>
            <a:pPr indent="540000">
              <a:lnSpc>
                <a:spcPct val="150000"/>
              </a:lnSpc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Обоснование экономической эффективности</a:t>
            </a:r>
          </a:p>
        </p:txBody>
      </p:sp>
    </p:spTree>
    <p:extLst>
      <p:ext uri="{BB962C8B-B14F-4D97-AF65-F5344CB8AC3E}">
        <p14:creationId xmlns:p14="http://schemas.microsoft.com/office/powerpoint/2010/main" val="982261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3730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8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Созданный программный продукт полностью удовлетворяет поставленным задачам.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Перспективы развития программы заключаются в усовершенствовании её функций, например:</a:t>
            </a:r>
            <a:r>
              <a:rPr lang="ru-RU" sz="28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могут быть доработаны виды формируемых отчетов, интерфейс.</a:t>
            </a:r>
            <a:endParaRPr lang="ru-RU" sz="2800" dirty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indent="540000">
              <a:lnSpc>
                <a:spcPct val="150000"/>
              </a:lnSpc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982261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Тема: </a:t>
            </a:r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Автоматизированная информационная система для обслуживания клиентов строительной компании на базе платформы .NET.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Конкин Никита Алексеевич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                      Студент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 Фомичева Ольга Владиславовна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2128890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</TotalTime>
  <Words>685</Words>
  <Application>Microsoft Office PowerPoint</Application>
  <PresentationFormat>Широкоэкранный</PresentationFormat>
  <Paragraphs>65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ВЫПУСКНАЯ КВАЛИФИКАЦИОННАЯ РАБОТА</vt:lpstr>
      <vt:lpstr>Актуальность темы</vt:lpstr>
      <vt:lpstr>Постановка задачи</vt:lpstr>
      <vt:lpstr>Обоснование выбора среды разработки и способа организации входных и выходных данных</vt:lpstr>
      <vt:lpstr>Структура БД – ER-диаграмма</vt:lpstr>
      <vt:lpstr>Программные модули</vt:lpstr>
      <vt:lpstr>Программные модули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ВЫПУСКНАЯ КВАЛИФИКАЦИОННАЯ РАБОТА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Kaelthas Gang</cp:lastModifiedBy>
  <cp:revision>89</cp:revision>
  <dcterms:created xsi:type="dcterms:W3CDTF">2022-06-15T10:15:27Z</dcterms:created>
  <dcterms:modified xsi:type="dcterms:W3CDTF">2026-06-16T05:11:22Z</dcterms:modified>
</cp:coreProperties>
</file>