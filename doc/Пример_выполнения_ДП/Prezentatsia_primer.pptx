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9" r:id="rId4"/>
    <p:sldId id="260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Раздел по умолчанию" id="{3A3F8D5D-CAE5-4EA3-ACBE-726BB9137DA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Раздел без заголовка" id="{E929F574-CF37-440B-9586-1F904E0EDABE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CC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-629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5488" y="2166364"/>
            <a:ext cx="11247120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7472" y="3913632"/>
            <a:ext cx="11506200" cy="4572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92681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242510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488" y="2167128"/>
            <a:ext cx="11247120" cy="173736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472" y="3913212"/>
            <a:ext cx="11503152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363658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173105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587082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226050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34298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934180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46666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830049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816505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7B9FE42E-2A42-4622-B06C-6EE27B8890A1}" type="datetimeFigureOut">
              <a:rPr lang="ru-RU" smtClean="0"/>
              <a:pPr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2E50E1DF-CDA7-43FD-9D8B-B1A13027E89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209525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12" Type="http://schemas.openxmlformats.org/officeDocument/2006/relationships/image" Target="../media/image14.g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jpe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://zisinfo.ru.opt-images.1c-bitrix-cdn.ru/upload/iblock/81a/zmz_402-prekrashchenie-proizvodstva.png?1508177053429358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48333"/>
          <a:stretch/>
        </p:blipFill>
        <p:spPr bwMode="auto">
          <a:xfrm>
            <a:off x="10450286" y="256937"/>
            <a:ext cx="1625374" cy="144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solidFill>
                  <a:schemeClr val="bg1">
                    <a:lumMod val="95000"/>
                  </a:schemeClr>
                </a:solidFill>
              </a:rPr>
              <a:t>ВЫПУСКНАЯ КВАЛИФИКАЦИОННАЯ РАБОТА</a:t>
            </a:r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25783" y="4375186"/>
            <a:ext cx="6870845" cy="928334"/>
          </a:xfrm>
        </p:spPr>
        <p:txBody>
          <a:bodyPr>
            <a:normAutofit/>
          </a:bodyPr>
          <a:lstStyle/>
          <a:p>
            <a:r>
              <a:rPr lang="ru-RU" sz="2800" b="1" dirty="0" smtClean="0">
                <a:solidFill>
                  <a:schemeClr val="tx2">
                    <a:lumMod val="75000"/>
                  </a:schemeClr>
                </a:solidFill>
              </a:rPr>
              <a:t>Тема</a:t>
            </a:r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: </a:t>
            </a:r>
            <a:r>
              <a:rPr lang="ru-RU" sz="2800" b="1" dirty="0">
                <a:solidFill>
                  <a:schemeClr val="tx2">
                    <a:lumMod val="75000"/>
                  </a:schemeClr>
                </a:solidFill>
              </a:rPr>
              <a:t>Информационная система по ведению базы данных музея ПАО ЗМЗ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821577" y="177301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</a:t>
            </a: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образования </a:t>
            </a: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Нижегородской области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61259" y="5449829"/>
            <a:ext cx="56431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Выполнила: </a:t>
            </a:r>
            <a:r>
              <a:rPr lang="ru-RU" sz="2000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Татаринцева Анна Александровна, группа ПС-15</a:t>
            </a:r>
            <a:endParaRPr lang="ru-RU" sz="20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099048" y="5419052"/>
            <a:ext cx="566144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Руководитель: </a:t>
            </a:r>
            <a:r>
              <a:rPr lang="ru-RU" sz="2000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Карпушева Ирина Александровна, преподаватель</a:t>
            </a:r>
            <a:endParaRPr lang="ru-RU" sz="20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832644" y="6108975"/>
            <a:ext cx="394498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2026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030" name="Picture 6" descr="http://zisinfo.ru.opt-images.1c-bitrix-cdn.ru/upload/iblock/81a/zmz_402-prekrashchenie-proizvodstva.png?1508177053429358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5102" t="20028" r="49199" b="13662"/>
          <a:stretch/>
        </p:blipFill>
        <p:spPr bwMode="auto">
          <a:xfrm>
            <a:off x="95793" y="175643"/>
            <a:ext cx="2659437" cy="1670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283935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93943" y="618538"/>
            <a:ext cx="41761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i="0" dirty="0" smtClean="0">
                <a:solidFill>
                  <a:schemeClr val="bg1"/>
                </a:solidFill>
                <a:effectLst/>
                <a:latin typeface="+mj-lt"/>
              </a:rPr>
              <a:t>Актуальность темы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827181" y="1889532"/>
            <a:ext cx="1039803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33400" algn="just" fontAlgn="base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Музей - учреждение, занимающееся собиранием, изучением, хранением предметов - памятников истории, материальной и духовной культуры. </a:t>
            </a:r>
            <a:endParaRPr lang="ru-RU" sz="20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7675" algn="just" fontAlgn="base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 В музее истории и трудовой славы ПАО «ЗМЗ» представлены двигатели, детали и узлы к ним, документы по созданию и развитию предприятия. Постоянная экспозиция насчитывает  950 экспонатов. Возникло большое число информации, в которой иногда трудно сориентироваться и выбрать нужные сведения. Информационная система по ведению базы данных музея ПАО ЗМЗ разработана индивидуально для данной организации и позволяет получить доступ к системе, объединяющей всю имеющуюся информацию в одной базе данных и имеет ряд дополнительных полезных возможностей.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03353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93943" y="618538"/>
            <a:ext cx="401552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Постановка задачи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69966" y="1429070"/>
            <a:ext cx="1153014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выпускной квалификационной работы заключается в разработке информационной системы по ведению базы данных музея ПАО ЗМЗ. База данных музея должна обладать следующими особенностями: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продуманный интерфейс в соответствии с поставленной задачей; 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форму авторизации;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главную кнопочную форму (добавить данные, изменить данные, запросы, отчеты, выход);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-иметь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ведения и редактирования базы данных (добавление, удаление, редактирование, сохранение);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ведения учета экспонатов;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резервного копирования БД;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динамического поиска записей базы данных (по наименованию и номеру);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составления документов по запросу пользователя; 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экспорта базы данных в MS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Excel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 С#. База данных составляется в MS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Access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xmlns="" val="1302634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/>
          <p:cNvSpPr/>
          <p:nvPr/>
        </p:nvSpPr>
        <p:spPr>
          <a:xfrm>
            <a:off x="6014162" y="3581355"/>
            <a:ext cx="5914642" cy="30591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155575" y="3581355"/>
            <a:ext cx="4602856" cy="30591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/>
        </p:nvSpPr>
        <p:spPr>
          <a:xfrm>
            <a:off x="3866446" y="1466206"/>
            <a:ext cx="4485999" cy="247709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4552" y="50923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2278652" y="583704"/>
            <a:ext cx="819294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Обоснование выбора среды разработки</a:t>
            </a:r>
          </a:p>
        </p:txBody>
      </p:sp>
      <p:pic>
        <p:nvPicPr>
          <p:cNvPr id="3076" name="Picture 4" descr="https://spectrasoft.ru/upload/iblock/9ea/9eaf1899c4123658ada469594d611a30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4296949" y="2644983"/>
            <a:ext cx="3766777" cy="110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2271899" y="3219405"/>
            <a:ext cx="2495550" cy="7239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2281424" y="4008505"/>
            <a:ext cx="2486025" cy="7048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12281424" y="4727329"/>
            <a:ext cx="2495550" cy="733425"/>
          </a:xfrm>
          <a:prstGeom prst="rect">
            <a:avLst/>
          </a:prstGeom>
        </p:spPr>
      </p:pic>
      <p:pic>
        <p:nvPicPr>
          <p:cNvPr id="3078" name="Picture 6" descr="ÐÐ°ÑÑÐ¸Ð½ÐºÐ¸ Ð¿Ð¾ Ð·Ð°Ð¿ÑÐ¾ÑÑ visual studio community logo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3657" r="58953" b="13949"/>
          <a:stretch/>
        </p:blipFill>
        <p:spPr bwMode="auto">
          <a:xfrm>
            <a:off x="6258093" y="1521688"/>
            <a:ext cx="1567271" cy="96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ÐÐ°ÑÑÐ¸Ð½ÐºÐ¸ Ð¿Ð¾ Ð·Ð°Ð¿ÑÐ¾ÑÑ visual studio enterprise logo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7017" t="8176" r="7849" b="51561"/>
          <a:stretch/>
        </p:blipFill>
        <p:spPr bwMode="auto">
          <a:xfrm>
            <a:off x="4503879" y="1498829"/>
            <a:ext cx="1570428" cy="96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ÐÐ¾ÑÐ¾Ð¶ÐµÐµ Ð¸Ð·Ð¾Ð±ÑÐ°Ð¶ÐµÐ½Ð¸Ðµ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443884" y="4913957"/>
            <a:ext cx="967422" cy="967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ÐÐ°ÑÑÐ¸Ð½ÐºÐ¸ Ð¿Ð¾ Ð·Ð°Ð¿ÑÐ¾ÑÑ Visual Basic  logo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741245" y="4915000"/>
            <a:ext cx="766754" cy="76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14" descr="ÐÐ°ÑÑÐ¸Ð½ÐºÐ¸ Ð¿Ð¾ Ð·Ð°Ð¿ÑÐ¾ÑÑ C#  logo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088" name="Picture 16" descr="ÐÐ¾ÑÐ¾Ð¶ÐµÐµ Ð¸Ð·Ð¾Ð±ÑÐ°Ð¶ÐµÐ½Ð¸Ðµ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180730" y="3921163"/>
            <a:ext cx="2685716" cy="2578287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utoShape 20" descr="ÐÐ°ÑÑÐ¸Ð½ÐºÐ¸ Ð¿Ð¾ Ð·Ð°Ð¿ÑÐ¾ÑÑ mysql logo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22" descr="ÐÐ°ÑÑÐ¸Ð½ÐºÐ¸ Ð¿Ð¾ Ð·Ð°Ð¿ÑÐ¾ÑÑ mysql logo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096" name="Picture 24" descr="ÐÐ¾ÑÐ¾Ð¶ÐµÐµ Ð¸Ð·Ð¾Ð±ÑÐ°Ð¶ÐµÐ½Ð¸Ðµ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0410347" y="4912015"/>
            <a:ext cx="1518457" cy="101111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098" name="Picture 26" descr="ÐÐ°ÑÑÐ¸Ð½ÐºÐ¸ Ð¿Ð¾ Ð·Ð°Ð¿ÑÐ¾ÑÑ Microsoft SQL Server  logo"/>
          <p:cNvPicPr>
            <a:picLocks noChangeAspect="1" noChangeArrowheads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14952" r="12817"/>
          <a:stretch/>
        </p:blipFill>
        <p:spPr bwMode="auto">
          <a:xfrm>
            <a:off x="6411013" y="4824837"/>
            <a:ext cx="1378314" cy="1037078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100" name="Picture 28" descr="ÐÐ°ÑÑÐ¸Ð½ÐºÐ¸ Ð¿Ð¾ Ð·Ð°Ð¿ÑÐ¾ÑÑ access  logo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045932" y="4081459"/>
            <a:ext cx="2425668" cy="241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432611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382990" y="618537"/>
            <a:ext cx="61704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Структура </a:t>
            </a:r>
            <a:r>
              <a:rPr lang="ru-RU" sz="3600" dirty="0" smtClean="0">
                <a:solidFill>
                  <a:schemeClr val="bg1"/>
                </a:solidFill>
              </a:rPr>
              <a:t>БД</a:t>
            </a:r>
            <a:r>
              <a:rPr lang="en-US" sz="3600" dirty="0" smtClean="0">
                <a:solidFill>
                  <a:schemeClr val="bg1"/>
                </a:solidFill>
              </a:rPr>
              <a:t> –</a:t>
            </a:r>
            <a:r>
              <a:rPr lang="ru-RU" sz="3600" dirty="0" smtClean="0">
                <a:solidFill>
                  <a:schemeClr val="bg1"/>
                </a:solidFill>
              </a:rPr>
              <a:t> </a:t>
            </a:r>
            <a:r>
              <a:rPr lang="en-US" sz="3600" dirty="0" smtClean="0">
                <a:solidFill>
                  <a:schemeClr val="bg1"/>
                </a:solidFill>
              </a:rPr>
              <a:t>ER </a:t>
            </a:r>
            <a:r>
              <a:rPr lang="ru-RU" sz="3600" dirty="0" smtClean="0">
                <a:solidFill>
                  <a:schemeClr val="bg1"/>
                </a:solidFill>
              </a:rPr>
              <a:t>диаграмма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9218" name="Рисунок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808924" y="1463040"/>
            <a:ext cx="5429385" cy="5206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2241943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33679" y="609828"/>
            <a:ext cx="458503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Программные модули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242" name="Рисунок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1948261"/>
            <a:ext cx="3452337" cy="3272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3" name="Рисунок 1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733679" y="2762511"/>
            <a:ext cx="8237263" cy="38037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3796881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33679" y="609828"/>
            <a:ext cx="458503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Программные модули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1266" name="Рисунок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51367" y="2610628"/>
            <a:ext cx="6004653" cy="40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Рисунок 1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6420758" y="1458729"/>
            <a:ext cx="5371563" cy="49033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2950107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33679" y="609828"/>
            <a:ext cx="458503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Программные модули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2291" name="Рисунок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12028" y="1880822"/>
            <a:ext cx="5729017" cy="4319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2" name="Рисунок 1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5884591" y="3453358"/>
            <a:ext cx="6229350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167749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55573" y="96252"/>
            <a:ext cx="1174125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3733679" y="609828"/>
            <a:ext cx="5822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Применяемые меры защиты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17714" y="1367246"/>
            <a:ext cx="11878492" cy="44928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20000"/>
              </a:lnSpc>
            </a:pPr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Защита данных – это предупреждение несанкционированного (случайного или умышленного) доступа к данным, их изменения или разрушения со стороны пользователей; предупреждения изменения или разрушения данных при сбоях аппаратных или программных средств и ошибках в работе сотрудников группы эксплуатации.</a:t>
            </a:r>
          </a:p>
          <a:p>
            <a:pPr indent="540385" algn="just">
              <a:lnSpc>
                <a:spcPct val="120000"/>
              </a:lnSpc>
            </a:pPr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Функции:</a:t>
            </a:r>
          </a:p>
          <a:p>
            <a:pPr indent="540385" algn="just">
              <a:lnSpc>
                <a:spcPct val="120000"/>
              </a:lnSpc>
            </a:pPr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 обеспечение безопасности данных.</a:t>
            </a:r>
          </a:p>
          <a:p>
            <a:pPr indent="540000">
              <a:lnSpc>
                <a:spcPct val="120000"/>
              </a:lnSpc>
            </a:pPr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процессе разработки информационной системы была реализована парольная защита базы данных, необходимая для обеспечения её защиты от несанкционированного доступа.</a:t>
            </a:r>
            <a:endParaRPr lang="ru-RU" sz="2400" dirty="0"/>
          </a:p>
        </p:txBody>
      </p:sp>
      <p:pic>
        <p:nvPicPr>
          <p:cNvPr id="13314" name="Рисунок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4591866" y="5495874"/>
            <a:ext cx="3533229" cy="1253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3903636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59779" y="96252"/>
            <a:ext cx="1213222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2018091" y="635954"/>
            <a:ext cx="92550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Обоснование экономической эффективности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514213" y="1591154"/>
            <a:ext cx="75138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разработки программного продукта: </a:t>
            </a:r>
            <a:r>
              <a:rPr lang="ru-RU" sz="24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25214</a:t>
            </a:r>
            <a:r>
              <a:rPr lang="ru-RU" sz="24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рублей</a:t>
            </a:r>
            <a:endParaRPr lang="ru-RU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49607" y="2052819"/>
            <a:ext cx="11442095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50000"/>
              </a:lnSpc>
              <a:spcAft>
                <a:spcPts val="0"/>
              </a:spcAft>
              <a:tabLst>
                <a:tab pos="114300" algn="l"/>
              </a:tabLst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</a:t>
            </a: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рограмма разработана </a:t>
            </a: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рамках учебного процесса</a:t>
            </a: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для конкретного заказчика и </a:t>
            </a: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будет реализована бесплатно.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49607" y="3013147"/>
            <a:ext cx="11442095" cy="1883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Было принято решение продвигать продукт путем выпуска пробной версии продукта и размещение ее на специализированном бесплатном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хостинге. Данный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вариант позволит пользователям ознакомится с программным продуктом, оценить функционал, а размещение на специализированном хостинге привлечет большое количество клиентов.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13215" y="4888825"/>
            <a:ext cx="11225348" cy="96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Планируется реализовать программный продукт для желающих по цене 2500 рублей. Таким образом срок окупаемости программного продукта, составит 1 год.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9848" y="5916168"/>
            <a:ext cx="10533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FF0000"/>
                </a:solidFill>
              </a:rPr>
              <a:t>На данном слайде нужно сравнить с аналогами, сделать вывод по преимуществам вашей программу, озвучить стоимость разработки и срок окупаемости программы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8328" y="1408176"/>
            <a:ext cx="1051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dirty="0" smtClean="0">
                <a:solidFill>
                  <a:srgbClr val="FF0000"/>
                </a:solidFill>
              </a:rPr>
              <a:t>?</a:t>
            </a:r>
            <a:endParaRPr lang="ru-RU" sz="8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640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onlygfx.com/wp-content/uploads/2017/12/origami-banner-rectangle-1-1024x318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59779" y="96252"/>
            <a:ext cx="12132221" cy="1270994"/>
          </a:xfrm>
          <a:prstGeom prst="rect">
            <a:avLst/>
          </a:prstGeom>
          <a:solidFill>
            <a:schemeClr val="bg1">
              <a:alpha val="18000"/>
            </a:schemeClr>
          </a:solidFill>
        </p:spPr>
      </p:pic>
      <p:sp>
        <p:nvSpPr>
          <p:cNvPr id="2" name="Прямоугольник 1"/>
          <p:cNvSpPr/>
          <p:nvPr/>
        </p:nvSpPr>
        <p:spPr>
          <a:xfrm>
            <a:off x="4430365" y="583470"/>
            <a:ext cx="263886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Заключение</a:t>
            </a:r>
            <a:endParaRPr lang="ru-RU" sz="3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213664" y="2124888"/>
            <a:ext cx="982445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Созданный программный продукт полностью удовлетворяет поставленным задачам.</a:t>
            </a:r>
          </a:p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Данная программа планируется использоваться в музее ПАО ЗМЗ и полностью удовлетворяет требованиям заказчика.</a:t>
            </a:r>
          </a:p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0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Перспективы развития программы заключаются в усовершенствовании её функций, например: возможность добавления в базу данных документов и возможность представления программы в универсальном виде.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61737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://zisinfo.ru.opt-images.1c-bitrix-cdn.ru/upload/iblock/81a/zmz_402-prekrashchenie-proizvodstva.png?1508177053429358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48333"/>
          <a:stretch/>
        </p:blipFill>
        <p:spPr bwMode="auto">
          <a:xfrm>
            <a:off x="10450286" y="256937"/>
            <a:ext cx="1625374" cy="144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solidFill>
                  <a:schemeClr val="bg1">
                    <a:lumMod val="95000"/>
                  </a:schemeClr>
                </a:solidFill>
              </a:rPr>
              <a:t>ВЫПУСКНАЯ КВАЛИФИКАЦИОННАЯ РАБОТА</a:t>
            </a:r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25783" y="4375186"/>
            <a:ext cx="6870845" cy="928334"/>
          </a:xfrm>
        </p:spPr>
        <p:txBody>
          <a:bodyPr>
            <a:normAutofit/>
          </a:bodyPr>
          <a:lstStyle/>
          <a:p>
            <a:r>
              <a:rPr lang="ru-RU" sz="2800" b="1" dirty="0" smtClean="0">
                <a:solidFill>
                  <a:schemeClr val="tx2">
                    <a:lumMod val="75000"/>
                  </a:schemeClr>
                </a:solidFill>
              </a:rPr>
              <a:t>Тема</a:t>
            </a:r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: </a:t>
            </a:r>
            <a:r>
              <a:rPr lang="ru-RU" sz="2800" b="1" dirty="0">
                <a:solidFill>
                  <a:schemeClr val="tx2">
                    <a:lumMod val="75000"/>
                  </a:schemeClr>
                </a:solidFill>
              </a:rPr>
              <a:t>Информационная система по ведению базы данных музея ПАО ЗМЗ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821577" y="177301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образования, науки и молодежной политики</a:t>
            </a:r>
            <a:b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Нижегородской области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61259" y="5449829"/>
            <a:ext cx="56431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Выполнила: Татаринцева Анна Александровна, группа ПС-15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099048" y="5419052"/>
            <a:ext cx="566144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Руководитель: Карпушева Ирина Александровна, преподаватель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832644" y="6108975"/>
            <a:ext cx="394498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algn="ctr">
              <a:spcAft>
                <a:spcPts val="0"/>
              </a:spcAft>
            </a:pPr>
            <a:r>
              <a:rPr lang="ru-RU" sz="20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2019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030" name="Picture 6" descr="http://zisinfo.ru.opt-images.1c-bitrix-cdn.ru/upload/iblock/81a/zmz_402-prekrashchenie-proizvodstva.png?1508177053429358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5102" t="20028" r="49199" b="13662"/>
          <a:stretch/>
        </p:blipFill>
        <p:spPr bwMode="auto">
          <a:xfrm>
            <a:off x="95793" y="175643"/>
            <a:ext cx="2659437" cy="1670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7716845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лосы">
  <a:themeElements>
    <a:clrScheme name="Синий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Полосы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Полосы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Banded" id="{98DFF888-2449-4D28-977C-6306C017633E}" vid="{B7CF026C-957E-4F4E-893C-D02C23AB63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Words>478</Words>
  <Application>Microsoft Office PowerPoint</Application>
  <PresentationFormat>Произвольный</PresentationFormat>
  <Paragraphs>56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Полосы</vt:lpstr>
      <vt:lpstr>ВЫПУСКНАЯ КВАЛИФИКАЦИОННАЯ РАБОТА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ВЫПУСКНАЯ КВАЛИФИКАЦИОННАЯ РАБОТА</vt:lpstr>
    </vt:vector>
  </TitlesOfParts>
  <Company>SPecialiST RePack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</dc:title>
  <dc:creator>Анна</dc:creator>
  <cp:lastModifiedBy>admin</cp:lastModifiedBy>
  <cp:revision>19</cp:revision>
  <dcterms:created xsi:type="dcterms:W3CDTF">2019-06-16T11:10:45Z</dcterms:created>
  <dcterms:modified xsi:type="dcterms:W3CDTF">2026-05-17T13:04:45Z</dcterms:modified>
</cp:coreProperties>
</file>