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A3F8D5D-CAE5-4EA3-ACBE-726BB9137DA1}">
          <p14:sldIdLst>
            <p14:sldId id="256"/>
            <p14:sldId id="257"/>
            <p14:sldId id="259"/>
            <p14:sldId id="260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Раздел без заголовка" id="{E929F574-CF37-440B-9586-1F904E0EDAB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8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51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67128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3212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65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10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08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05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9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18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66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04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50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7B9FE42E-2A42-4622-B06C-6EE27B8890A1}" type="datetimeFigureOut">
              <a:rPr lang="ru-RU" smtClean="0"/>
              <a:pPr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2E50E1DF-CDA7-43FD-9D8B-B1A13027E89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52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zisinfo.ru.opt-images.1c-bitrix-cdn.ru/upload/iblock/81a/zmz_402-prekrashchenie-proizvodstva.png?1508177053429358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3"/>
          <a:stretch/>
        </p:blipFill>
        <p:spPr bwMode="auto">
          <a:xfrm>
            <a:off x="10450286" y="256937"/>
            <a:ext cx="1625374" cy="144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ВЫПУСКНАЯ КВАЛИФИКАЦИОННАЯ РАБОТА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0357" y="4375186"/>
            <a:ext cx="8319929" cy="1183840"/>
          </a:xfrm>
        </p:spPr>
        <p:txBody>
          <a:bodyPr>
            <a:normAutofit lnSpcReduction="10000"/>
          </a:bodyPr>
          <a:lstStyle/>
          <a:p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Тема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Автоматизированная информационная система для обслуживания клиентов строительной компании на базе платформы .NET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21577" y="17730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Нижегородской области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1259" y="5449829"/>
            <a:ext cx="5643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Конкин Никита Алексеевич, группа ИС-22Б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099048" y="5419052"/>
            <a:ext cx="5661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Руководитель: Фомичева Ольга Владиславовна</a:t>
            </a:r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преподаватель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832644" y="6108975"/>
            <a:ext cx="39449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30" name="Picture 6" descr="http://zisinfo.ru.opt-images.1c-bitrix-cdn.ru/upload/iblock/81a/zmz_402-prekrashchenie-proizvodstva.png?150817705342935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20028" r="49199" b="13662"/>
          <a:stretch/>
        </p:blipFill>
        <p:spPr bwMode="auto">
          <a:xfrm>
            <a:off x="95793" y="175643"/>
            <a:ext cx="2659437" cy="167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3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793943" y="618538"/>
            <a:ext cx="41761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0" dirty="0">
                <a:solidFill>
                  <a:schemeClr val="bg1"/>
                </a:solidFill>
                <a:effectLst/>
                <a:latin typeface="+mj-lt"/>
              </a:rPr>
              <a:t>Актуальность темы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181" y="1889532"/>
            <a:ext cx="1039803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3400" algn="just" fontAlgn="base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Музей - учреждение, занимающееся собиранием, изучением, хранением предметов - памятников истории, материальной и духовной культуры.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7675" algn="just" fontAlgn="base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 В музее истории и трудовой славы ПАО «ЗМЗ» представлены двигатели, детали и узлы к ним, документы по созданию и развитию предприятия. Постоянная экспозиция насчитывает  950 экспонатов. Возникло большое число информации, в которой иногда трудно сориентироваться и выбрать нужные сведения. Информационная система по ведению базы данных музея ПАО ЗМЗ разработана индивидуально для данной организации и позволяет получить доступ к системе, объединяющей всю имеющуюся информацию в одной базе данных и имеет ряд дополнительных полезных возможностей.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35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793943" y="618538"/>
            <a:ext cx="40155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Постановка задачи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9966" y="1429070"/>
            <a:ext cx="115301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выпускной квалификационной работы заключается в разработке информационной системы по ведению базы данных музея ПАО ЗМЗ. База данных музея должна обладать следующими особенностями: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продуманный интерфейс в соответствии с поставленной задачей; 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форму авторизации;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главную кнопочную форму (добавить данные, изменить данные, запросы, отчеты, выход);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-иметь возможность ведения и редактирования базы данных (добавление, удаление, редактирование, сохранение);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ведения учета экспонатов;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резервного копирования БД;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динамического поиска записей базы данных (по наименованию и номеру);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составления документов по запросу пользователя; 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экспорта базы данных в MS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С#. База данных составляется в MS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0263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>
            <a:off x="6014162" y="3581355"/>
            <a:ext cx="5914642" cy="30591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55575" y="3581355"/>
            <a:ext cx="4602856" cy="30591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3866446" y="1466206"/>
            <a:ext cx="4485999" cy="2477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2" y="50923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2278652" y="583704"/>
            <a:ext cx="81929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Обоснование выбора среды разработки</a:t>
            </a:r>
          </a:p>
        </p:txBody>
      </p:sp>
      <p:pic>
        <p:nvPicPr>
          <p:cNvPr id="3076" name="Picture 4" descr="https://spectrasoft.ru/upload/iblock/9ea/9eaf1899c4123658ada469594d611a3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949" y="2644983"/>
            <a:ext cx="3766777" cy="110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271899" y="3219405"/>
            <a:ext cx="2495550" cy="723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281424" y="4008505"/>
            <a:ext cx="2486025" cy="7048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281424" y="4727329"/>
            <a:ext cx="2495550" cy="733425"/>
          </a:xfrm>
          <a:prstGeom prst="rect">
            <a:avLst/>
          </a:prstGeom>
        </p:spPr>
      </p:pic>
      <p:pic>
        <p:nvPicPr>
          <p:cNvPr id="3078" name="Picture 6" descr="ÐÐ°ÑÑÐ¸Ð½ÐºÐ¸ Ð¿Ð¾ Ð·Ð°Ð¿ÑÐ¾ÑÑ visual studio community log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r="58953" b="13949"/>
          <a:stretch/>
        </p:blipFill>
        <p:spPr bwMode="auto">
          <a:xfrm>
            <a:off x="6258093" y="1521688"/>
            <a:ext cx="1567271" cy="96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ÐÐ°ÑÑÐ¸Ð½ÐºÐ¸ Ð¿Ð¾ Ð·Ð°Ð¿ÑÐ¾ÑÑ visual studio enterprise logo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7" t="8176" r="7849" b="51561"/>
          <a:stretch/>
        </p:blipFill>
        <p:spPr bwMode="auto">
          <a:xfrm>
            <a:off x="4503879" y="1498829"/>
            <a:ext cx="1570428" cy="96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4" y="4913957"/>
            <a:ext cx="967422" cy="96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ÐÐ°ÑÑÐ¸Ð½ÐºÐ¸ Ð¿Ð¾ Ð·Ð°Ð¿ÑÐ¾ÑÑ Visual Basic  logo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245" y="4915000"/>
            <a:ext cx="766754" cy="76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4" descr="ÐÐ°ÑÑÐ¸Ð½ÐºÐ¸ Ð¿Ð¾ Ð·Ð°Ð¿ÑÐ¾ÑÑ C# 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8" name="Picture 16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30" y="3921163"/>
            <a:ext cx="2685716" cy="2578287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0" descr="ÐÐ°ÑÑÐ¸Ð½ÐºÐ¸ Ð¿Ð¾ Ð·Ð°Ð¿ÑÐ¾ÑÑ mysql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22" descr="ÐÐ°ÑÑÐ¸Ð½ÐºÐ¸ Ð¿Ð¾ Ð·Ð°Ð¿ÑÐ¾ÑÑ mysql log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96" name="Picture 24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347" y="4912015"/>
            <a:ext cx="1518457" cy="101111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ÐÐ°ÑÑÐ¸Ð½ÐºÐ¸ Ð¿Ð¾ Ð·Ð°Ð¿ÑÐ¾ÑÑ Microsoft SQL Server  logo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2" r="12817"/>
          <a:stretch/>
        </p:blipFill>
        <p:spPr bwMode="auto">
          <a:xfrm>
            <a:off x="6411013" y="4824837"/>
            <a:ext cx="1378314" cy="103707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 descr="ÐÐ°ÑÑÐ¸Ð½ÐºÐ¸ Ð¿Ð¾ Ð·Ð°Ð¿ÑÐ¾ÑÑ access  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5932" y="4081459"/>
            <a:ext cx="2425668" cy="241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61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382990" y="618537"/>
            <a:ext cx="61704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Структура БД</a:t>
            </a:r>
            <a:r>
              <a:rPr lang="en-US" sz="3600" dirty="0">
                <a:solidFill>
                  <a:schemeClr val="bg1"/>
                </a:solidFill>
              </a:rPr>
              <a:t> –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ER </a:t>
            </a:r>
            <a:r>
              <a:rPr lang="ru-RU" sz="3600" dirty="0">
                <a:solidFill>
                  <a:schemeClr val="bg1"/>
                </a:solidFill>
              </a:rPr>
              <a:t>диаграмма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218" name="Рисунок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924" y="1463040"/>
            <a:ext cx="5429385" cy="5206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194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733679" y="609828"/>
            <a:ext cx="4585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Программные модули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42" name="Рисунок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1948261"/>
            <a:ext cx="3452337" cy="327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Рисунок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679" y="2762511"/>
            <a:ext cx="8237263" cy="380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688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733679" y="609828"/>
            <a:ext cx="4585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Программные модули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266" name="Рисунок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67" y="2610628"/>
            <a:ext cx="6004653" cy="402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Рисунок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758" y="1458729"/>
            <a:ext cx="5371563" cy="490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010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733679" y="609828"/>
            <a:ext cx="4585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Программные модули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291" name="Рисунок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8" y="1880822"/>
            <a:ext cx="5729017" cy="431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Рисунок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591" y="3453358"/>
            <a:ext cx="622935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49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96252"/>
            <a:ext cx="1174125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3733679" y="609828"/>
            <a:ext cx="5822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Применяемые меры защиты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7714" y="1367246"/>
            <a:ext cx="11878492" cy="4492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2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Защита данных – это предупреждение несанкционированного (случайного или умышленного) доступа к данным, их изменения или разрушения со стороны пользователей; предупреждения изменения или разрушения данных при сбоях аппаратных или программных средств и ошибках в работе сотрудников группы эксплуатации.</a:t>
            </a:r>
          </a:p>
          <a:p>
            <a:pPr indent="540385" algn="just">
              <a:lnSpc>
                <a:spcPct val="12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Функции:</a:t>
            </a:r>
          </a:p>
          <a:p>
            <a:pPr indent="540385" algn="just">
              <a:lnSpc>
                <a:spcPct val="12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обеспечение безопасности данных.</a:t>
            </a:r>
          </a:p>
          <a:p>
            <a:pPr indent="540000">
              <a:lnSpc>
                <a:spcPct val="12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разработки информационной системы была реализована парольная защита базы данных, необходимая для обеспечения её защиты от несанкционированного доступа.</a:t>
            </a:r>
            <a:endParaRPr lang="ru-RU" sz="2400" dirty="0"/>
          </a:p>
        </p:txBody>
      </p:sp>
      <p:pic>
        <p:nvPicPr>
          <p:cNvPr id="13314" name="Рисунок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866" y="5495874"/>
            <a:ext cx="3533229" cy="125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636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9" y="96252"/>
            <a:ext cx="1213222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2018091" y="635954"/>
            <a:ext cx="92550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Обоснование экономической эффективности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4213" y="1591154"/>
            <a:ext cx="75138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Цена разработки программного продукта: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25214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рублей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49607" y="2052819"/>
            <a:ext cx="1144209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  <a:tabLst>
                <a:tab pos="1143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рограмма разработана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учебного процесса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конкретного заказчика и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будет реализована бесплатно.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9607" y="3013147"/>
            <a:ext cx="11442095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Было принято решение продвигать продукт путем выпуска пробной версии продукта и размещение ее на специализированном бесплатном хостинге. Данный вариант позволит пользователям ознакомится с программным продуктом, оценить функционал, а размещение на специализированном хостинге привлечет большое количество клиентов.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13215" y="4888825"/>
            <a:ext cx="11225348" cy="96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Планируется реализовать программный продукт для желающих по цене 2500 рублей. Таким образом срок окупаемости программного продукта, составит 1 год.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5916168"/>
            <a:ext cx="10533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На данном слайде нужно сравнить с аналогами, сделать вывод по преимуществам вашей программу, озвучить стоимость разработки и срок окупаемости программы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408176"/>
            <a:ext cx="1051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40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onlygfx.com/wp-content/uploads/2017/12/origami-banner-rectangle-1-1024x318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9" y="96252"/>
            <a:ext cx="12132221" cy="1270994"/>
          </a:xfrm>
          <a:prstGeom prst="rect">
            <a:avLst/>
          </a:prstGeom>
          <a:solidFill>
            <a:schemeClr val="bg1">
              <a:alpha val="18000"/>
            </a:schemeClr>
          </a:solidFill>
        </p:spPr>
      </p:pic>
      <p:sp>
        <p:nvSpPr>
          <p:cNvPr id="2" name="Прямоугольник 1"/>
          <p:cNvSpPr/>
          <p:nvPr/>
        </p:nvSpPr>
        <p:spPr>
          <a:xfrm>
            <a:off x="4430365" y="583470"/>
            <a:ext cx="26388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Заключение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13664" y="2124888"/>
            <a:ext cx="98244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Созданный программный продукт полностью удовлетворяет поставленным задачам.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Данная программа планируется использоваться в музее ПАО ЗМЗ и полностью удовлетворяет требованиям заказчика.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Перспективы развития программы заключаются в усовершенствовании её функций, например: возможность добавления в базу данных документов и возможность представления программы в универсальном виде.</a:t>
            </a:r>
          </a:p>
        </p:txBody>
      </p:sp>
    </p:spTree>
    <p:extLst>
      <p:ext uri="{BB962C8B-B14F-4D97-AF65-F5344CB8AC3E}">
        <p14:creationId xmlns:p14="http://schemas.microsoft.com/office/powerpoint/2010/main" val="3161737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zisinfo.ru.opt-images.1c-bitrix-cdn.ru/upload/iblock/81a/zmz_402-prekrashchenie-proizvodstva.png?1508177053429358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3"/>
          <a:stretch/>
        </p:blipFill>
        <p:spPr bwMode="auto">
          <a:xfrm>
            <a:off x="10450286" y="256937"/>
            <a:ext cx="1625374" cy="144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ВЫПУСКНАЯ КВАЛИФИКАЦИОННАЯ РАБОТА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25783" y="4375186"/>
            <a:ext cx="6870845" cy="92833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Тема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Информационная система по ведению базы данных музея ПАО ЗМЗ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21577" y="17730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образования, науки и молодежной политики</a:t>
            </a:r>
            <a:b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Нижегородской области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61259" y="5449829"/>
            <a:ext cx="5643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Выполнила: Татаринцева Анна Александровна, группа ПС-15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099048" y="5419052"/>
            <a:ext cx="5661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Руководитель: Карпушева Ирина Александровна, преподаватель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832644" y="6108975"/>
            <a:ext cx="39449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2019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30" name="Picture 6" descr="http://zisinfo.ru.opt-images.1c-bitrix-cdn.ru/upload/iblock/81a/zmz_402-prekrashchenie-proizvodstva.png?150817705342935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20028" r="49199" b="13662"/>
          <a:stretch/>
        </p:blipFill>
        <p:spPr bwMode="auto">
          <a:xfrm>
            <a:off x="95793" y="175643"/>
            <a:ext cx="2659437" cy="167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684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лосы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Полосы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Полосы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599</Words>
  <Application>Microsoft Office PowerPoint</Application>
  <PresentationFormat>Широкоэкранный</PresentationFormat>
  <Paragraphs>56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Corbel</vt:lpstr>
      <vt:lpstr>Times New Roman</vt:lpstr>
      <vt:lpstr>Wingdings</vt:lpstr>
      <vt:lpstr>Полосы</vt:lpstr>
      <vt:lpstr>ВЫПУСКНАЯ КВАЛИФИКАЦИОННАЯ РАБОТА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ВЫПУСКНАЯ КВАЛИФИКАЦИОННАЯ РАБОТА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</dc:title>
  <dc:creator>Анна</dc:creator>
  <cp:lastModifiedBy>Kaelthas Gang</cp:lastModifiedBy>
  <cp:revision>23</cp:revision>
  <dcterms:created xsi:type="dcterms:W3CDTF">2019-06-16T11:10:45Z</dcterms:created>
  <dcterms:modified xsi:type="dcterms:W3CDTF">2026-06-15T15:38:19Z</dcterms:modified>
</cp:coreProperties>
</file>